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SemiBold"/>
      <p:regular r:id="rId201315"/>
    </p:embeddedFont>
    <p:embeddedFont>
      <p:font typeface="Public Sans Bold"/>
      <p:regular r:id="rId201316"/>
    </p:embeddedFont>
    <p:embeddedFont>
      <p:font typeface="Sora SemiBold"/>
      <p:regular r:id="rId201317"/>
    </p:embeddedFont>
    <p:embeddedFont>
      <p:font typeface="Spline Sans Mono"/>
      <p:regular r:id="rId201318"/>
    </p:embeddedFont>
    <p:embeddedFont>
      <p:font typeface="Spline Sans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914400"/>
            <a:ext cx="673083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76" kern="0" dirty="0">
                <a:solidFill>
                  <a:srgbClr val="FFFFFF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ROBOTICS · PATH PLANNING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61981" y="1361380"/>
            <a:ext cx="150710" cy="38100"/>
          </a:xfrm>
          <a:prstGeom prst="roundRect">
            <a:avLst>
              <a:gd name="adj" fmla="val 49999"/>
            </a:avLst>
          </a:prstGeom>
          <a:solidFill>
            <a:srgbClr val="F25F33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885255"/>
            <a:ext cx="6121247" cy="2590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A* ROBOT PATHFINDING</a:t>
            </a:r>
            <a:endParaRPr lang="en-US" sz="40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AND CONFLICT-BASED</a:t>
            </a:r>
            <a:endParaRPr lang="en-US" sz="40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ADAPTIVE A*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1981" y="4729857"/>
            <a:ext cx="6730832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Intelligent single-robot and multi-robot path planning.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1981" y="5253038"/>
            <a:ext cx="1836394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6AC5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819" y="5313958"/>
            <a:ext cx="220230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A* PATHFINDING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9972" y="5253038"/>
            <a:ext cx="2519002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6AC5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1810" y="5313958"/>
            <a:ext cx="288491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HEURISTIC COMPARISON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1981" y="5671443"/>
            <a:ext cx="3770417" cy="316805"/>
          </a:xfrm>
          <a:prstGeom prst="roundRect">
            <a:avLst>
              <a:gd name="adj" fmla="val 3608"/>
            </a:avLst>
          </a:prstGeom>
          <a:noFill/>
          <a:ln w="6350">
            <a:solidFill>
              <a:srgbClr val="6AC5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819" y="5732363"/>
            <a:ext cx="413632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MULTI-ROBOT COLLISION AVOIDANCE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1981" y="6089848"/>
            <a:ext cx="3201610" cy="316805"/>
          </a:xfrm>
          <a:prstGeom prst="roundRect">
            <a:avLst>
              <a:gd name="adj" fmla="val 3608"/>
            </a:avLst>
          </a:prstGeom>
          <a:solidFill>
            <a:srgbClr val="481405"/>
          </a:solidFill>
          <a:ln/>
        </p:spPr>
      </p:sp>
      <p:sp>
        <p:nvSpPr>
          <p:cNvPr id="13" name="Text 11"/>
          <p:cNvSpPr/>
          <p:nvPr/>
        </p:nvSpPr>
        <p:spPr>
          <a:xfrm>
            <a:off x="883819" y="6150769"/>
            <a:ext cx="356751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CONFLICT-BASED ADAPTIVE A*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195260" cy="1697831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Robots need paths that are short, safe, and coordinated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561431"/>
            <a:ext cx="3195260" cy="281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Move from start to goal while avoiding obstacles.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 efficient routes and prevent vertex collisions and edge swaps.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 single-robot A*, compare five heuristics, and develop CBA* for conflict resolution.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311" y="1537395"/>
            <a:ext cx="6405799" cy="3143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76311" y="4909245"/>
            <a:ext cx="6405799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planning problem: two individually reasonable routes can meet at the same place and time.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28623" y="6461125"/>
            <a:ext cx="76307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591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A* balances distance traveled with estimated distance remaining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779191"/>
            <a:ext cx="4267093" cy="2009378"/>
          </a:xfrm>
          <a:prstGeom prst="rect">
            <a:avLst/>
          </a:prstGeom>
          <a:solidFill>
            <a:srgbClr val="22262C"/>
          </a:solidFill>
          <a:ln/>
        </p:spPr>
      </p:sp>
      <p:sp>
        <p:nvSpPr>
          <p:cNvPr id="4" name="Text 2"/>
          <p:cNvSpPr/>
          <p:nvPr/>
        </p:nvSpPr>
        <p:spPr>
          <a:xfrm>
            <a:off x="914377" y="2083991"/>
            <a:ext cx="396230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EEF1F4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CORE SCORE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" y="2400796"/>
            <a:ext cx="3657509" cy="3445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377" y="2894608"/>
            <a:ext cx="3657509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Path cost so far plus estimated cost to the goal.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81371" y="1779191"/>
            <a:ext cx="8226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1371" y="2063651"/>
            <a:ext cx="1371566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9" name="Text 6"/>
          <p:cNvSpPr/>
          <p:nvPr/>
        </p:nvSpPr>
        <p:spPr>
          <a:xfrm>
            <a:off x="5181371" y="2204541"/>
            <a:ext cx="137156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Explore neighbors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7729" y="1779191"/>
            <a:ext cx="86298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7729" y="2063651"/>
            <a:ext cx="1371566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2" name="Text 9"/>
          <p:cNvSpPr/>
          <p:nvPr/>
        </p:nvSpPr>
        <p:spPr>
          <a:xfrm>
            <a:off x="6857729" y="2204541"/>
            <a:ext cx="137156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Calculate f(n)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34087" y="1779191"/>
            <a:ext cx="868539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534087" y="2063651"/>
            <a:ext cx="1371566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5" name="Text 12"/>
          <p:cNvSpPr/>
          <p:nvPr/>
        </p:nvSpPr>
        <p:spPr>
          <a:xfrm>
            <a:off x="8534087" y="2204541"/>
            <a:ext cx="137156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Select the lowest score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210445" y="1779191"/>
            <a:ext cx="86774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F25F33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210445" y="2063651"/>
            <a:ext cx="1371566" cy="19050"/>
          </a:xfrm>
          <a:prstGeom prst="rect">
            <a:avLst/>
          </a:prstGeom>
          <a:solidFill>
            <a:srgbClr val="F25F33"/>
          </a:solidFill>
          <a:ln/>
        </p:spPr>
      </p:sp>
      <p:sp>
        <p:nvSpPr>
          <p:cNvPr id="18" name="Text 15"/>
          <p:cNvSpPr/>
          <p:nvPr/>
        </p:nvSpPr>
        <p:spPr>
          <a:xfrm>
            <a:off x="10210445" y="2204541"/>
            <a:ext cx="1371665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Reach the goal and reconstruct the path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9585" y="595382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With an admissible heuristic, A* finds optimal paths and is more efficient than uninformed search.</a:t>
            </a:r>
            <a:endParaRPr lang="en-US" sz="1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84" y="6527701"/>
            <a:ext cx="10464538" cy="12690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25150" y="6461125"/>
            <a:ext cx="76654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99042" cy="915591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Manhattan distance was the best fit for four-directional grids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779191"/>
            <a:ext cx="629904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Dijkstra: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h(n)=0 · 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Manhattan: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|dx| + |dy| · 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Euclidean: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√(dx² + dy²)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Chebyshev: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max(dx, dy) ·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Octile: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max(dx,dy) + (√2−1)min(dx,dy)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8978" y="4772819"/>
            <a:ext cx="264153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KEY 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88978" y="5041999"/>
            <a:ext cx="236214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25F33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26.6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88978" y="5814120"/>
            <a:ext cx="264153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expanded nodes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67093" y="4772819"/>
            <a:ext cx="236214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25F33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0.045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267093" y="5544939"/>
            <a:ext cx="264153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ms runtime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84" y="6527701"/>
            <a:ext cx="5791055" cy="126901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7" y="1905000"/>
            <a:ext cx="3454314" cy="304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24753" y="6461125"/>
            <a:ext cx="76694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591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Independent A* plans well for one robot, but ignores the team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64891"/>
            <a:ext cx="507987" cy="50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0767" y="1779191"/>
            <a:ext cx="37337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Independent planning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20767" y="2268141"/>
            <a:ext cx="3733707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robot plans independently.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616200"/>
            <a:ext cx="507987" cy="50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0767" y="2730500"/>
            <a:ext cx="37337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Team failure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320767" y="3219450"/>
            <a:ext cx="3733707" cy="147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Individually optimal paths can collide.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Vertex collision: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two robots occupy one cell at the same time.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Edge-swap: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two robots exchange positions between consecutive steps.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745930"/>
            <a:ext cx="507987" cy="508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0767" y="4860230"/>
            <a:ext cx="37337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EF1F4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Observed result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320767" y="5349180"/>
            <a:ext cx="3733707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Independent A* achieved approximately </a:t>
            </a:r>
            <a:pPr algn="l" indent="0" marL="0">
              <a:lnSpc>
                <a:spcPct val="121000"/>
              </a:lnSpc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55%</a:t>
            </a:r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benchmark success.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266" y="2585045"/>
            <a:ext cx="6222844" cy="2857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22967" y="6461125"/>
            <a:ext cx="76872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2235144" cy="2480072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CBA* adds a conflict-aware layer above space-time planning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3343672"/>
            <a:ext cx="2235144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Conflict-Based Adaptive A* separates coordination from movement search.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4750594"/>
            <a:ext cx="2235144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The high level decides what to constrain; the low level finds a new safe path.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898" y="1857375"/>
            <a:ext cx="7518212" cy="3143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6142" y="6461125"/>
            <a:ext cx="7655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251119" cy="2088952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Adaptive prioritization makes conflict resolution selective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2952552"/>
            <a:ext cx="3251119" cy="274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Priority = Cost + 10 × Remaining Conflicts.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Vertex collision base score: 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10.0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600" dirty="0"/>
          </a:p>
          <a:p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Edge-swap collision base score: 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6.0</a:t>
            </a:r>
            <a:pPr algn="l" indent="0" marL="0">
              <a:lnSpc>
                <a:spcPct val="121000"/>
              </a:lnSpc>
              <a:spcAft>
                <a:spcPts val="1750"/>
              </a:spcAft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6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Local obstacle density increases severity.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3" y="1857375"/>
            <a:ext cx="6502237" cy="3143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409" y="6461125"/>
            <a:ext cx="76128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The benchmark stresses scale, density, and coordination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388070"/>
          <a:ext cx="9143771" cy="914400"/>
        </p:xfrm>
        <a:graphic>
          <a:graphicData uri="http://schemas.openxmlformats.org/drawingml/2006/table">
            <a:tbl>
              <a:tblPr/>
              <a:tblGrid>
                <a:gridCol w="2962582"/>
                <a:gridCol w="2523681"/>
                <a:gridCol w="2962582"/>
                <a:gridCol w="2523681"/>
              </a:tblGrid>
              <a:tr h="5358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DIMENSION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CONFIGURATION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DIMENSION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60" kern="0" dirty="0">
                          <a:solidFill>
                            <a:srgbClr val="9AA3AD"/>
                          </a:solidFill>
                          <a:latin typeface="Spline Sans Mono" pitchFamily="34" charset="0"/>
                          <a:ea typeface="Spline Sans Mono" pitchFamily="34" charset="-122"/>
                          <a:cs typeface="Spline Sans Mono" pitchFamily="34" charset="-120"/>
                        </a:rPr>
                        <a:t>CONFIGURATION</a:t>
                      </a:r>
                      <a:endParaRPr lang="en-US" sz="1600" dirty="0">
                        <a:latin typeface="Spline Sans Mono" charset="0"/>
                        <a:ea typeface="Spline Sans Mono" charset="0"/>
                        <a:cs typeface="Spline Sa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8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Grid sizes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15×15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 and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20×20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Obstacle density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15%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 and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25%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0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Robot counts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 and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5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Trials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8 configurations × 5 trials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1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Start-goal distance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Minimum 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6 cells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High-level limit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200</a:t>
                      </a:r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EF1F4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 expansions</a:t>
                      </a:r>
                      <a:endParaRPr lang="en-US" sz="16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88978" y="5430639"/>
            <a:ext cx="4978275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MEASURED OUTPUTS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03835" y="5430639"/>
            <a:ext cx="469888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Success rate · collisions · makespan · planning time · nodes expanded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84" y="6527701"/>
            <a:ext cx="10464538" cy="1269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22967" y="6461125"/>
            <a:ext cx="76872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02237" cy="915591"/>
          </a:xfrm>
          <a:prstGeom prst="rect">
            <a:avLst/>
          </a:prstGeom>
          <a:noFill/>
          <a:ln/>
        </p:spPr>
        <p:txBody>
          <a:bodyPr wrap="square" lIns="0" tIns="0" rIns="0" bIns="12699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CBA* traded a little planning time for reliable coordination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779191"/>
            <a:ext cx="6502237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CBA* sharply improves reliability and collision avoidance while adding modest planning cost.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9585" y="3297238"/>
            <a:ext cx="302252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3566418"/>
            <a:ext cx="3022524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25F33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09585" y="4338538"/>
            <a:ext cx="302252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CBA* success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89298" y="3297238"/>
            <a:ext cx="3022524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SAFETY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9298" y="3566418"/>
            <a:ext cx="3022524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F25F33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0.00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089298" y="4338538"/>
            <a:ext cx="3022524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average collisions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5001419"/>
            <a:ext cx="650223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5" y="5270599"/>
            <a:ext cx="650223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spc="320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~0.8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9585" y="6042720"/>
            <a:ext cx="650223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ms planning time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84" y="6527701"/>
            <a:ext cx="5994151" cy="126901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992" y="1532533"/>
            <a:ext cx="3251119" cy="28686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30992" y="4502745"/>
            <a:ext cx="3251119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24" kern="0" dirty="0">
                <a:solidFill>
                  <a:srgbClr val="9AA3AD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Average makespan: inf due to failures vs ~20 steps. CBA* achieved zero average collisions across the tested configurations.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425845" y="6461125"/>
            <a:ext cx="76585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524470"/>
          </a:xfrm>
          <a:prstGeom prst="rect">
            <a:avLst/>
          </a:prstGeom>
          <a:noFill/>
          <a:ln/>
        </p:spPr>
        <p:txBody>
          <a:bodyPr wrap="none" lIns="0" tIns="0" rIns="0" bIns="126997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spc="-28" kern="0" dirty="0">
                <a:solidFill>
                  <a:srgbClr val="EEF1F4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Safe multi-robot navigation needs conflict-free paths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88070"/>
            <a:ext cx="5333867" cy="3199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A* efficiently solves single-robot pathfinding.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Manhattan is highly effective for four-directional grids.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Independent A* can create conflicting multi-robot paths.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CBA* combines conflict detection, constraints, and Space-Time A*.</a:t>
            </a:r>
            <a:endParaRPr lang="en-US" sz="1600" dirty="0"/>
          </a:p>
          <a:p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b="1" dirty="0">
                <a:solidFill>
                  <a:srgbClr val="EEF1F4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CBA* reached 100% benchmark success with 0 average collisions</a:t>
            </a:r>
            <a:pPr algn="l" marL="325120" indent="-325120">
              <a:lnSpc>
                <a:spcPct val="121000"/>
              </a:lnSpc>
              <a:buSzPct val="100000"/>
              <a:buChar char="•"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, at the cost of additional planning time.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244" y="1749723"/>
            <a:ext cx="5333867" cy="2476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816475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0" kern="0" dirty="0">
                <a:solidFill>
                  <a:srgbClr val="6AC5B1"/>
                </a:solidFill>
                <a:latin typeface="Spline Sans Mono" pitchFamily="34" charset="0"/>
                <a:ea typeface="Spline Sans Mono" pitchFamily="34" charset="-122"/>
                <a:cs typeface="Spline Sans Mono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9585" y="5212655"/>
            <a:ext cx="10972526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EEF1F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Larger grids and more robots · Dynamic obstacles and real-time replanning · Different robot speeds · ROS or real-robot integration · Large-scale multi-agent experiments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2026-10-01T05:32:03Z</dcterms:created>
  <dcterms:modified xsi:type="dcterms:W3CDTF">2026-10-01T05:32:03Z</dcterms:modified>
</cp:coreProperties>
</file>